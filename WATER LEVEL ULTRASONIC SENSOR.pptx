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324" r:id="rId10"/>
    <p:sldId id="325" r:id="rId11"/>
    <p:sldId id="361" r:id="rId12"/>
    <p:sldId id="362" r:id="rId13"/>
    <p:sldId id="363" r:id="rId14"/>
    <p:sldId id="296" r:id="rId15"/>
    <p:sldId id="297" r:id="rId16"/>
    <p:sldId id="298" r:id="rId17"/>
    <p:sldId id="308" r:id="rId18"/>
    <p:sldId id="309" r:id="rId19"/>
    <p:sldId id="310" r:id="rId20"/>
    <p:sldId id="353" r:id="rId21"/>
    <p:sldId id="354" r:id="rId22"/>
    <p:sldId id="264" r:id="rId23"/>
    <p:sldId id="26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3103305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437447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298035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CB77F5-8EE9-4F20-AA1E-E3EB34640A31}"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4272293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CB77F5-8EE9-4F20-AA1E-E3EB34640A31}" type="datetimeFigureOut">
              <a:rPr lang="en-US" smtClean="0"/>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3315267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CB77F5-8EE9-4F20-AA1E-E3EB34640A31}" type="datetimeFigureOut">
              <a:rPr lang="en-US" smtClean="0"/>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708605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CB77F5-8EE9-4F20-AA1E-E3EB34640A31}" type="datetimeFigureOut">
              <a:rPr lang="en-US" smtClean="0"/>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373902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CB77F5-8EE9-4F20-AA1E-E3EB34640A31}"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175922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CB77F5-8EE9-4F20-AA1E-E3EB34640A31}" type="datetimeFigureOut">
              <a:rPr lang="en-US" smtClean="0"/>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632441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081095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19971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457746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4267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978520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3127422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77F5-8EE9-4F20-AA1E-E3EB34640A31}" type="datetimeFigureOut">
              <a:rPr lang="en-US" smtClean="0"/>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FB8410-6403-4065-B6F8-7D1A1FE42925}" type="slidenum">
              <a:rPr lang="en-US" smtClean="0"/>
              <a:t>‹#›</a:t>
            </a:fld>
            <a:endParaRPr lang="en-US"/>
          </a:p>
        </p:txBody>
      </p:sp>
    </p:spTree>
    <p:extLst>
      <p:ext uri="{BB962C8B-B14F-4D97-AF65-F5344CB8AC3E}">
        <p14:creationId xmlns:p14="http://schemas.microsoft.com/office/powerpoint/2010/main" val="2659871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CB77F5-8EE9-4F20-AA1E-E3EB34640A31}" type="datetimeFigureOut">
              <a:rPr lang="en-US" smtClean="0"/>
              <a:t>11/25/2024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DFB8410-6403-4065-B6F8-7D1A1FE42925}" type="slidenum">
              <a:rPr lang="en-US" smtClean="0"/>
              <a:t>‹#›</a:t>
            </a:fld>
            <a:endParaRPr lang="en-US"/>
          </a:p>
        </p:txBody>
      </p:sp>
    </p:spTree>
    <p:extLst>
      <p:ext uri="{BB962C8B-B14F-4D97-AF65-F5344CB8AC3E}">
        <p14:creationId xmlns:p14="http://schemas.microsoft.com/office/powerpoint/2010/main" val="4278552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EE2F-01EC-FBDD-D9EA-A105C03E621C}"/>
              </a:ext>
            </a:extLst>
          </p:cNvPr>
          <p:cNvSpPr>
            <a:spLocks noGrp="1"/>
          </p:cNvSpPr>
          <p:nvPr>
            <p:ph type="ctrTitle"/>
          </p:nvPr>
        </p:nvSpPr>
        <p:spPr/>
        <p:txBody>
          <a:bodyPr/>
          <a:lstStyle/>
          <a:p>
            <a:r>
              <a:rPr lang="en-US" dirty="0"/>
              <a:t>AUTOMATIC WATER LEVEL INDICATOR AND CONTROLLER USING ARDUINO</a:t>
            </a:r>
          </a:p>
        </p:txBody>
      </p:sp>
      <p:sp>
        <p:nvSpPr>
          <p:cNvPr id="3" name="Subtitle 2">
            <a:extLst>
              <a:ext uri="{FF2B5EF4-FFF2-40B4-BE49-F238E27FC236}">
                <a16:creationId xmlns:a16="http://schemas.microsoft.com/office/drawing/2014/main" id="{92EB951D-C94E-A13D-610D-C9018A88940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6722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929A4-1EB0-FEA7-38B9-CFE6D2225F56}"/>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B83A1A50-248D-137A-1095-69170E6412E5}"/>
              </a:ext>
            </a:extLst>
          </p:cNvPr>
          <p:cNvSpPr>
            <a:spLocks noGrp="1"/>
          </p:cNvSpPr>
          <p:nvPr>
            <p:ph idx="1"/>
          </p:nvPr>
        </p:nvSpPr>
        <p:spPr/>
        <p:txBody>
          <a:bodyPr/>
          <a:lstStyle/>
          <a:p>
            <a:pPr algn="just"/>
            <a:r>
              <a:rPr lang="en-US" dirty="0"/>
              <a:t>Most of the people in residential areas face the problem of running out of water and overflow of water in water tanks due to excess supply of water. It becomes difficult for users to judge the level of water in water tanks. When the pump is turned ON, users will not realize that the water tank is filled, which may result in overflow. Water level indicator and controller system is used to sort out the issues associated with water tank. It is also possible to check the level of the water using sensor so that whenever the water goes below, pump gets turned ON automatically. Also when there is overflow of water in water tank it uses sensor to detect the water level so that if the water level goes above, the pump gets turned off automatically. This system prevents wastage of water</a:t>
            </a:r>
          </a:p>
        </p:txBody>
      </p:sp>
    </p:spTree>
    <p:extLst>
      <p:ext uri="{BB962C8B-B14F-4D97-AF65-F5344CB8AC3E}">
        <p14:creationId xmlns:p14="http://schemas.microsoft.com/office/powerpoint/2010/main" val="4056481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361-7F75-82E8-FF90-122DE70D5EAB}"/>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365F3E8-5500-4730-80F2-F86C1ABC1275}"/>
              </a:ext>
            </a:extLst>
          </p:cNvPr>
          <p:cNvSpPr>
            <a:spLocks noGrp="1"/>
          </p:cNvSpPr>
          <p:nvPr>
            <p:ph idx="1"/>
          </p:nvPr>
        </p:nvSpPr>
        <p:spPr/>
        <p:txBody>
          <a:bodyPr/>
          <a:lstStyle/>
          <a:p>
            <a:r>
              <a:rPr lang="en-US" dirty="0"/>
              <a:t>Water is essential in every hour of our lives. Hardly anyone keeps in track of the level of water in the overhead tanks. Consequently, automatic controlling involves designing a control system to function with minimal or no human interference. The idea can be implicitly used to ascertain and control the level of water in overhead tanks and prevent the wastage. In this Arduino based automatic water level indicator and controller project, the water level is being measured by using ultrasonic sensors. The objective of the project is to measure the level of water in the tank and notify the user about the water level.</a:t>
            </a:r>
          </a:p>
        </p:txBody>
      </p:sp>
    </p:spTree>
    <p:extLst>
      <p:ext uri="{BB962C8B-B14F-4D97-AF65-F5344CB8AC3E}">
        <p14:creationId xmlns:p14="http://schemas.microsoft.com/office/powerpoint/2010/main" val="693233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8ECF8-A68F-55E5-19E4-8B830F675CC3}"/>
              </a:ext>
            </a:extLst>
          </p:cNvPr>
          <p:cNvSpPr>
            <a:spLocks noGrp="1"/>
          </p:cNvSpPr>
          <p:nvPr>
            <p:ph type="title"/>
          </p:nvPr>
        </p:nvSpPr>
        <p:spPr/>
        <p:txBody>
          <a:bodyPr/>
          <a:lstStyle/>
          <a:p>
            <a:r>
              <a:rPr lang="en-US" dirty="0"/>
              <a:t>EXISTING METHODS</a:t>
            </a:r>
            <a:br>
              <a:rPr lang="en-US" dirty="0"/>
            </a:br>
            <a:endParaRPr lang="en-US" dirty="0"/>
          </a:p>
        </p:txBody>
      </p:sp>
      <p:sp>
        <p:nvSpPr>
          <p:cNvPr id="3" name="Content Placeholder 2">
            <a:extLst>
              <a:ext uri="{FF2B5EF4-FFF2-40B4-BE49-F238E27FC236}">
                <a16:creationId xmlns:a16="http://schemas.microsoft.com/office/drawing/2014/main" id="{17EDB26B-CB5A-A121-5EAD-9572F769E09C}"/>
              </a:ext>
            </a:extLst>
          </p:cNvPr>
          <p:cNvSpPr>
            <a:spLocks noGrp="1"/>
          </p:cNvSpPr>
          <p:nvPr>
            <p:ph idx="1"/>
          </p:nvPr>
        </p:nvSpPr>
        <p:spPr/>
        <p:txBody>
          <a:bodyPr/>
          <a:lstStyle/>
          <a:p>
            <a:r>
              <a:rPr lang="en-US" dirty="0"/>
              <a:t>At present, water meters are used to calculate the amount of water used at homes. This doesn’t provide an efficient method of monitoring the water usage. The water is wasted at each and every outlet knowingly or unknowingly which adds up to huge amount in the end. Efficient management of the water used at homes is very much necessary as, about 50% of water supplied to the cities gets wasted through its improper usage. Water management is only possible, if the user is aware of the quantity of water he uses and the quantity available to him</a:t>
            </a:r>
          </a:p>
        </p:txBody>
      </p:sp>
    </p:spTree>
    <p:extLst>
      <p:ext uri="{BB962C8B-B14F-4D97-AF65-F5344CB8AC3E}">
        <p14:creationId xmlns:p14="http://schemas.microsoft.com/office/powerpoint/2010/main" val="2413386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2B5A-3DC7-56D7-ADFA-E0ED49EC6AC9}"/>
              </a:ext>
            </a:extLst>
          </p:cNvPr>
          <p:cNvSpPr>
            <a:spLocks noGrp="1"/>
          </p:cNvSpPr>
          <p:nvPr>
            <p:ph type="title"/>
          </p:nvPr>
        </p:nvSpPr>
        <p:spPr/>
        <p:txBody>
          <a:bodyPr/>
          <a:lstStyle/>
          <a:p>
            <a:r>
              <a:rPr lang="en-US" dirty="0"/>
              <a:t>PROPOSED METHOD</a:t>
            </a:r>
            <a:br>
              <a:rPr lang="en-US" dirty="0"/>
            </a:br>
            <a:endParaRPr lang="en-US" dirty="0"/>
          </a:p>
        </p:txBody>
      </p:sp>
      <p:sp>
        <p:nvSpPr>
          <p:cNvPr id="3" name="Content Placeholder 2">
            <a:extLst>
              <a:ext uri="{FF2B5EF4-FFF2-40B4-BE49-F238E27FC236}">
                <a16:creationId xmlns:a16="http://schemas.microsoft.com/office/drawing/2014/main" id="{712A2AD6-6231-63D9-1904-52589125E154}"/>
              </a:ext>
            </a:extLst>
          </p:cNvPr>
          <p:cNvSpPr>
            <a:spLocks noGrp="1"/>
          </p:cNvSpPr>
          <p:nvPr>
            <p:ph idx="1"/>
          </p:nvPr>
        </p:nvSpPr>
        <p:spPr/>
        <p:txBody>
          <a:bodyPr>
            <a:normAutofit fontScale="77500" lnSpcReduction="20000"/>
          </a:bodyPr>
          <a:lstStyle/>
          <a:p>
            <a:pPr algn="just"/>
            <a:r>
              <a:rPr lang="en-US" dirty="0"/>
              <a:t>This proposed system works under automation and contains the components like Arduino ,ultrasonic sensor, motor pump, relay, led, buzzer and LCD in which each component has its own functionality but Arduino looks like heart of the project as all the components are interfaced with Arduino. </a:t>
            </a:r>
          </a:p>
          <a:p>
            <a:pPr algn="just"/>
            <a:r>
              <a:rPr lang="en-US" dirty="0"/>
              <a:t>The ultrasonic sensor plays major role in determining the water level present in the tank. This sensor is fitted under the lid of the tank and uses the concept called „echo‟. </a:t>
            </a:r>
          </a:p>
          <a:p>
            <a:pPr algn="just"/>
            <a:r>
              <a:rPr lang="en-US" dirty="0"/>
              <a:t>The sensor contains two small openings called trig and echo.</a:t>
            </a:r>
          </a:p>
          <a:p>
            <a:pPr algn="just"/>
            <a:r>
              <a:rPr lang="en-US" dirty="0"/>
              <a:t> The trig works like a small speaker in which it sends the ultrasonic waves and the echo acts as a small microphone in which it receives the reflected waves which are sent by trig and this echo returns the distance.</a:t>
            </a:r>
          </a:p>
          <a:p>
            <a:pPr algn="just"/>
            <a:r>
              <a:rPr lang="en-US" dirty="0"/>
              <a:t> So by this we are known of water level in the tank through LCD. </a:t>
            </a:r>
          </a:p>
          <a:p>
            <a:pPr algn="just"/>
            <a:r>
              <a:rPr lang="en-US" dirty="0"/>
              <a:t>Another advantage of this proposed system is motor automation. </a:t>
            </a:r>
          </a:p>
          <a:p>
            <a:pPr algn="just"/>
            <a:r>
              <a:rPr lang="en-US" dirty="0"/>
              <a:t>We have designed a code that whenever the tank is getting low about of 10% the motor automatically starts and stops when the tank reaches to 90% so here no one required for controlling to motor this is the main advantage of proposed system. Since no component touches the water there is no chance of damage to the components whereas in the existing system contains wires that are placed in water which may cause damage. </a:t>
            </a:r>
          </a:p>
        </p:txBody>
      </p:sp>
    </p:spTree>
    <p:extLst>
      <p:ext uri="{BB962C8B-B14F-4D97-AF65-F5344CB8AC3E}">
        <p14:creationId xmlns:p14="http://schemas.microsoft.com/office/powerpoint/2010/main" val="1707254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E1DB-7DEA-5D34-ACF7-FD7DB210F1F8}"/>
              </a:ext>
            </a:extLst>
          </p:cNvPr>
          <p:cNvSpPr>
            <a:spLocks noGrp="1"/>
          </p:cNvSpPr>
          <p:nvPr>
            <p:ph type="title"/>
          </p:nvPr>
        </p:nvSpPr>
        <p:spPr/>
        <p:txBody>
          <a:bodyPr/>
          <a:lstStyle/>
          <a:p>
            <a:r>
              <a:rPr lang="en-US" dirty="0"/>
              <a:t>BLOCK DIAGRAM</a:t>
            </a:r>
          </a:p>
        </p:txBody>
      </p:sp>
      <p:sp>
        <p:nvSpPr>
          <p:cNvPr id="4" name="Rectangle 3">
            <a:extLst>
              <a:ext uri="{FF2B5EF4-FFF2-40B4-BE49-F238E27FC236}">
                <a16:creationId xmlns:a16="http://schemas.microsoft.com/office/drawing/2014/main" id="{D8B315BE-6F05-C63D-F374-184E1AC4DEE2}"/>
              </a:ext>
            </a:extLst>
          </p:cNvPr>
          <p:cNvSpPr/>
          <p:nvPr/>
        </p:nvSpPr>
        <p:spPr>
          <a:xfrm>
            <a:off x="4076700" y="1611312"/>
            <a:ext cx="1866900" cy="63817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POWER SUPPLY</a:t>
            </a:r>
          </a:p>
        </p:txBody>
      </p:sp>
      <p:sp>
        <p:nvSpPr>
          <p:cNvPr id="5" name="Rectangle 4">
            <a:extLst>
              <a:ext uri="{FF2B5EF4-FFF2-40B4-BE49-F238E27FC236}">
                <a16:creationId xmlns:a16="http://schemas.microsoft.com/office/drawing/2014/main" id="{918CB0C9-F496-191F-B32F-05AA0D3BEAAC}"/>
              </a:ext>
            </a:extLst>
          </p:cNvPr>
          <p:cNvSpPr/>
          <p:nvPr/>
        </p:nvSpPr>
        <p:spPr>
          <a:xfrm>
            <a:off x="4076700" y="2613024"/>
            <a:ext cx="1866900" cy="283527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ARDUINO UNO</a:t>
            </a:r>
          </a:p>
        </p:txBody>
      </p:sp>
      <p:sp>
        <p:nvSpPr>
          <p:cNvPr id="6" name="Rectangle 5">
            <a:extLst>
              <a:ext uri="{FF2B5EF4-FFF2-40B4-BE49-F238E27FC236}">
                <a16:creationId xmlns:a16="http://schemas.microsoft.com/office/drawing/2014/main" id="{A7009EC5-4B20-A95B-046B-BCA2EDFF47EA}"/>
              </a:ext>
            </a:extLst>
          </p:cNvPr>
          <p:cNvSpPr/>
          <p:nvPr/>
        </p:nvSpPr>
        <p:spPr>
          <a:xfrm>
            <a:off x="1876425" y="3109912"/>
            <a:ext cx="1866900" cy="63817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ULTRASONIC SENSOR</a:t>
            </a:r>
          </a:p>
        </p:txBody>
      </p:sp>
      <p:sp>
        <p:nvSpPr>
          <p:cNvPr id="7" name="Rectangle 6">
            <a:extLst>
              <a:ext uri="{FF2B5EF4-FFF2-40B4-BE49-F238E27FC236}">
                <a16:creationId xmlns:a16="http://schemas.microsoft.com/office/drawing/2014/main" id="{B5C81BC6-166C-8AAC-5EF3-1D1947618110}"/>
              </a:ext>
            </a:extLst>
          </p:cNvPr>
          <p:cNvSpPr/>
          <p:nvPr/>
        </p:nvSpPr>
        <p:spPr>
          <a:xfrm>
            <a:off x="6372223" y="2865039"/>
            <a:ext cx="1219199" cy="4897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RELAY</a:t>
            </a:r>
          </a:p>
        </p:txBody>
      </p:sp>
      <p:sp>
        <p:nvSpPr>
          <p:cNvPr id="8" name="Rectangle 7">
            <a:extLst>
              <a:ext uri="{FF2B5EF4-FFF2-40B4-BE49-F238E27FC236}">
                <a16:creationId xmlns:a16="http://schemas.microsoft.com/office/drawing/2014/main" id="{3836500F-FE19-D504-BB56-AE2BB5D9AA0A}"/>
              </a:ext>
            </a:extLst>
          </p:cNvPr>
          <p:cNvSpPr/>
          <p:nvPr/>
        </p:nvSpPr>
        <p:spPr>
          <a:xfrm>
            <a:off x="6362699" y="3652836"/>
            <a:ext cx="1038224" cy="39529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LCD</a:t>
            </a:r>
          </a:p>
        </p:txBody>
      </p:sp>
      <p:sp>
        <p:nvSpPr>
          <p:cNvPr id="9" name="Rectangle 8">
            <a:extLst>
              <a:ext uri="{FF2B5EF4-FFF2-40B4-BE49-F238E27FC236}">
                <a16:creationId xmlns:a16="http://schemas.microsoft.com/office/drawing/2014/main" id="{9CFF701B-4FE4-9F04-EA45-71239B836143}"/>
              </a:ext>
            </a:extLst>
          </p:cNvPr>
          <p:cNvSpPr/>
          <p:nvPr/>
        </p:nvSpPr>
        <p:spPr>
          <a:xfrm>
            <a:off x="8054803" y="2827930"/>
            <a:ext cx="1219199" cy="56396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WATER MOTOR</a:t>
            </a:r>
          </a:p>
        </p:txBody>
      </p:sp>
      <p:cxnSp>
        <p:nvCxnSpPr>
          <p:cNvPr id="11" name="Straight Arrow Connector 10">
            <a:extLst>
              <a:ext uri="{FF2B5EF4-FFF2-40B4-BE49-F238E27FC236}">
                <a16:creationId xmlns:a16="http://schemas.microsoft.com/office/drawing/2014/main" id="{0F1F1813-6A6B-E636-D32C-A7558072D016}"/>
              </a:ext>
            </a:extLst>
          </p:cNvPr>
          <p:cNvCxnSpPr>
            <a:stCxn id="6" idx="3"/>
          </p:cNvCxnSpPr>
          <p:nvPr/>
        </p:nvCxnSpPr>
        <p:spPr>
          <a:xfrm flipV="1">
            <a:off x="3743325" y="3428999"/>
            <a:ext cx="333375"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CE191A52-ED6B-4278-3BB9-60D6C98610A3}"/>
              </a:ext>
            </a:extLst>
          </p:cNvPr>
          <p:cNvCxnSpPr>
            <a:stCxn id="4" idx="2"/>
            <a:endCxn id="5" idx="0"/>
          </p:cNvCxnSpPr>
          <p:nvPr/>
        </p:nvCxnSpPr>
        <p:spPr>
          <a:xfrm>
            <a:off x="5010150" y="2249487"/>
            <a:ext cx="0" cy="3635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D7ECCF3B-B1DD-2DE9-FCFD-CB9F1330295E}"/>
              </a:ext>
            </a:extLst>
          </p:cNvPr>
          <p:cNvCxnSpPr>
            <a:endCxn id="7" idx="1"/>
          </p:cNvCxnSpPr>
          <p:nvPr/>
        </p:nvCxnSpPr>
        <p:spPr>
          <a:xfrm>
            <a:off x="5943600" y="3109911"/>
            <a:ext cx="42862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65947D56-7CC6-24F6-D23C-BE1639DBD3C7}"/>
              </a:ext>
            </a:extLst>
          </p:cNvPr>
          <p:cNvCxnSpPr>
            <a:endCxn id="8" idx="1"/>
          </p:cNvCxnSpPr>
          <p:nvPr/>
        </p:nvCxnSpPr>
        <p:spPr>
          <a:xfrm>
            <a:off x="5938838" y="3850481"/>
            <a:ext cx="42386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D8CB82FE-E84A-9570-2336-28AA305B5167}"/>
              </a:ext>
            </a:extLst>
          </p:cNvPr>
          <p:cNvCxnSpPr>
            <a:stCxn id="7" idx="3"/>
            <a:endCxn id="9" idx="1"/>
          </p:cNvCxnSpPr>
          <p:nvPr/>
        </p:nvCxnSpPr>
        <p:spPr>
          <a:xfrm flipV="1">
            <a:off x="7591422" y="3109911"/>
            <a:ext cx="463381"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4584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B1620-B56C-D658-C7D5-3B390728AF01}"/>
              </a:ext>
            </a:extLst>
          </p:cNvPr>
          <p:cNvSpPr>
            <a:spLocks noGrp="1"/>
          </p:cNvSpPr>
          <p:nvPr>
            <p:ph type="title"/>
          </p:nvPr>
        </p:nvSpPr>
        <p:spPr/>
        <p:txBody>
          <a:bodyPr/>
          <a:lstStyle/>
          <a:p>
            <a:r>
              <a:rPr lang="en-US" dirty="0"/>
              <a:t>HARDWARE REQUIREMENTS</a:t>
            </a:r>
          </a:p>
        </p:txBody>
      </p:sp>
      <p:sp>
        <p:nvSpPr>
          <p:cNvPr id="3" name="Content Placeholder 2">
            <a:extLst>
              <a:ext uri="{FF2B5EF4-FFF2-40B4-BE49-F238E27FC236}">
                <a16:creationId xmlns:a16="http://schemas.microsoft.com/office/drawing/2014/main" id="{C95E31D2-198C-F330-ADB4-F3CBF4D8DCE9}"/>
              </a:ext>
            </a:extLst>
          </p:cNvPr>
          <p:cNvSpPr>
            <a:spLocks noGrp="1"/>
          </p:cNvSpPr>
          <p:nvPr>
            <p:ph idx="1"/>
          </p:nvPr>
        </p:nvSpPr>
        <p:spPr/>
        <p:txBody>
          <a:bodyPr/>
          <a:lstStyle/>
          <a:p>
            <a:r>
              <a:rPr lang="en-US" dirty="0"/>
              <a:t>ARDUINO UNO</a:t>
            </a:r>
          </a:p>
          <a:p>
            <a:r>
              <a:rPr lang="en-US" dirty="0"/>
              <a:t>ULTRASONIC SENSOR</a:t>
            </a:r>
          </a:p>
          <a:p>
            <a:r>
              <a:rPr lang="en-US" dirty="0"/>
              <a:t>RELAY</a:t>
            </a:r>
          </a:p>
          <a:p>
            <a:r>
              <a:rPr lang="en-US" dirty="0"/>
              <a:t>WATER MOTOR</a:t>
            </a:r>
          </a:p>
        </p:txBody>
      </p:sp>
    </p:spTree>
    <p:extLst>
      <p:ext uri="{BB962C8B-B14F-4D97-AF65-F5344CB8AC3E}">
        <p14:creationId xmlns:p14="http://schemas.microsoft.com/office/powerpoint/2010/main" val="3663719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D32E4-C900-C767-DC17-9BEB0A7C1D72}"/>
              </a:ext>
            </a:extLst>
          </p:cNvPr>
          <p:cNvSpPr>
            <a:spLocks noGrp="1"/>
          </p:cNvSpPr>
          <p:nvPr>
            <p:ph type="title"/>
          </p:nvPr>
        </p:nvSpPr>
        <p:spPr/>
        <p:txBody>
          <a:bodyPr/>
          <a:lstStyle/>
          <a:p>
            <a:r>
              <a:rPr lang="en-US" dirty="0"/>
              <a:t>SOFTWARE REQUIREMENTS</a:t>
            </a:r>
          </a:p>
        </p:txBody>
      </p:sp>
      <p:sp>
        <p:nvSpPr>
          <p:cNvPr id="3" name="Content Placeholder 2">
            <a:extLst>
              <a:ext uri="{FF2B5EF4-FFF2-40B4-BE49-F238E27FC236}">
                <a16:creationId xmlns:a16="http://schemas.microsoft.com/office/drawing/2014/main" id="{FAD5D3DE-2D62-770F-FE3E-75FC77D06DFC}"/>
              </a:ext>
            </a:extLst>
          </p:cNvPr>
          <p:cNvSpPr>
            <a:spLocks noGrp="1"/>
          </p:cNvSpPr>
          <p:nvPr>
            <p:ph idx="1"/>
          </p:nvPr>
        </p:nvSpPr>
        <p:spPr/>
        <p:txBody>
          <a:bodyPr/>
          <a:lstStyle/>
          <a:p>
            <a:r>
              <a:rPr lang="en-US" dirty="0"/>
              <a:t>ARDUINO IDE</a:t>
            </a:r>
          </a:p>
          <a:p>
            <a:r>
              <a:rPr lang="en-US" dirty="0"/>
              <a:t>C LANGUAGE</a:t>
            </a:r>
          </a:p>
        </p:txBody>
      </p:sp>
    </p:spTree>
    <p:extLst>
      <p:ext uri="{BB962C8B-B14F-4D97-AF65-F5344CB8AC3E}">
        <p14:creationId xmlns:p14="http://schemas.microsoft.com/office/powerpoint/2010/main" val="116156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959608" y="274638"/>
            <a:ext cx="7498080" cy="1143000"/>
          </a:xfrm>
          <a:prstGeom prst="rect">
            <a:avLst/>
          </a:prstGeom>
        </p:spPr>
        <p:txBody>
          <a:bodyPr/>
          <a:lstStyle/>
          <a:p>
            <a:pPr>
              <a:spcBef>
                <a:spcPct val="0"/>
              </a:spcBef>
              <a:defRPr/>
            </a:pPr>
            <a:r>
              <a:rPr lang="en-US" sz="5000">
                <a:solidFill>
                  <a:schemeClr val="tx2"/>
                </a:solidFill>
                <a:latin typeface="+mj-lt"/>
                <a:ea typeface="+mj-ea"/>
                <a:cs typeface="+mj-cs"/>
              </a:rPr>
              <a:t>BUZZER</a:t>
            </a:r>
            <a:endParaRPr lang="en-IN" sz="5000" dirty="0">
              <a:solidFill>
                <a:schemeClr val="tx2"/>
              </a:solidFill>
              <a:latin typeface="+mj-lt"/>
              <a:ea typeface="+mj-ea"/>
              <a:cs typeface="+mj-cs"/>
            </a:endParaRPr>
          </a:p>
        </p:txBody>
      </p:sp>
      <p:sp>
        <p:nvSpPr>
          <p:cNvPr id="3" name="Content Placeholder 2"/>
          <p:cNvSpPr txBox="1">
            <a:spLocks/>
          </p:cNvSpPr>
          <p:nvPr/>
        </p:nvSpPr>
        <p:spPr>
          <a:xfrm>
            <a:off x="1881158" y="1571612"/>
            <a:ext cx="8576530" cy="5000660"/>
          </a:xfrm>
          <a:prstGeom prst="rect">
            <a:avLst/>
          </a:prstGeom>
        </p:spPr>
        <p:txBody>
          <a:bodyPr>
            <a:normAutofit/>
          </a:bodyPr>
          <a:lstStyle/>
          <a:p>
            <a:pPr marL="274320" indent="-274320" algn="just">
              <a:spcBef>
                <a:spcPct val="20000"/>
              </a:spcBef>
              <a:buClr>
                <a:schemeClr val="accent3"/>
              </a:buClr>
              <a:buSzPct val="95000"/>
              <a:buFont typeface="Wingdings 2"/>
              <a:buChar char=""/>
              <a:defRPr/>
            </a:pPr>
            <a:endParaRPr lang="en-IN" sz="2600" dirty="0"/>
          </a:p>
          <a:p>
            <a:pPr marL="274320" indent="-274320" algn="just">
              <a:spcBef>
                <a:spcPct val="20000"/>
              </a:spcBef>
              <a:buClr>
                <a:schemeClr val="accent3"/>
              </a:buClr>
              <a:buSzPct val="95000"/>
              <a:buFont typeface="Wingdings 2"/>
              <a:buChar char=""/>
              <a:defRPr/>
            </a:pPr>
            <a:r>
              <a:rPr lang="en-IN" sz="2600" dirty="0"/>
              <a:t>A buzzer or beeper is a </a:t>
            </a:r>
            <a:r>
              <a:rPr lang="en-IN" sz="2600" dirty="0" err="1"/>
              <a:t>signaling</a:t>
            </a:r>
            <a:r>
              <a:rPr lang="en-IN" sz="2600" dirty="0"/>
              <a:t> device, usually electronic, typically used in automobiles, household appliances such as a microwave oven, or game shows.</a:t>
            </a:r>
          </a:p>
          <a:p>
            <a:pPr marL="274320" indent="-274320" algn="just">
              <a:spcBef>
                <a:spcPct val="20000"/>
              </a:spcBef>
              <a:buClr>
                <a:schemeClr val="accent3"/>
              </a:buClr>
              <a:buSzPct val="95000"/>
              <a:buFont typeface="Wingdings 2"/>
              <a:buChar char=""/>
              <a:defRPr/>
            </a:pPr>
            <a:r>
              <a:rPr lang="en-IN" sz="2600" dirty="0"/>
              <a:t> It most commonly consists of a number of switches or sensors connected to a control unit that determines if and which button was pushed or a preset time has lapsed, and usually illuminates a light on the appropriate button or control panel, and sounds a warning in the form of a continuous or intermittent buzzing or beeping sound. </a:t>
            </a:r>
          </a:p>
          <a:p>
            <a:pPr marL="274320" indent="-274320">
              <a:spcBef>
                <a:spcPct val="20000"/>
              </a:spcBef>
              <a:buClr>
                <a:schemeClr val="accent3"/>
              </a:buClr>
              <a:buSzPct val="95000"/>
              <a:buFont typeface="Wingdings 2"/>
              <a:buChar char=""/>
              <a:defRPr/>
            </a:pPr>
            <a:endParaRPr lang="en-IN" sz="2600" dirty="0"/>
          </a:p>
        </p:txBody>
      </p:sp>
      <p:pic>
        <p:nvPicPr>
          <p:cNvPr id="4" name="Picture 2" descr="Image result for buzzeR"/>
          <p:cNvPicPr>
            <a:picLocks noChangeAspect="1" noChangeArrowheads="1"/>
          </p:cNvPicPr>
          <p:nvPr/>
        </p:nvPicPr>
        <p:blipFill>
          <a:blip r:embed="rId2" cstate="print"/>
          <a:srcRect/>
          <a:stretch>
            <a:fillRect/>
          </a:stretch>
        </p:blipFill>
        <p:spPr bwMode="auto">
          <a:xfrm>
            <a:off x="7810512" y="214290"/>
            <a:ext cx="2357454" cy="150019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1809720" y="1071546"/>
            <a:ext cx="8401080" cy="5429288"/>
          </a:xfrm>
          <a:prstGeom prst="rect">
            <a:avLst/>
          </a:prstGeom>
        </p:spPr>
        <p:txBody>
          <a:bodyPr>
            <a:normAutofit fontScale="92500" lnSpcReduction="10000"/>
          </a:bodyPr>
          <a:lstStyle/>
          <a:p>
            <a:pPr marL="274320" indent="-274320" algn="just">
              <a:spcBef>
                <a:spcPct val="20000"/>
              </a:spcBef>
              <a:buClr>
                <a:schemeClr val="accent3"/>
              </a:buClr>
              <a:buSzPct val="95000"/>
              <a:buFont typeface="Wingdings 2"/>
              <a:buChar char=""/>
              <a:defRPr/>
            </a:pPr>
            <a:r>
              <a:rPr lang="en-IN" sz="2600"/>
              <a:t>A liquid crystal display (LCD) is a thin, flat display device made up of any number of color or monochrome pixels arrayed in front of a light source or reflector.</a:t>
            </a:r>
          </a:p>
          <a:p>
            <a:pPr marL="274320" indent="-274320" algn="just">
              <a:spcBef>
                <a:spcPct val="20000"/>
              </a:spcBef>
              <a:buClr>
                <a:schemeClr val="accent3"/>
              </a:buClr>
              <a:buSzPct val="95000"/>
              <a:buFont typeface="Wingdings 2"/>
              <a:buChar char=""/>
              <a:defRPr/>
            </a:pPr>
            <a:r>
              <a:rPr lang="en-IN" sz="2600"/>
              <a:t> Each pixel consists of a column of liquid crystal molecules suspended between two transparent electrodes, and two polarizing filters, the axes of polarity of which are perpendicular to each other. Without the liquid crystals between them, light passing through one would be blocked by the other. </a:t>
            </a:r>
          </a:p>
          <a:p>
            <a:pPr marL="274320" indent="-274320" algn="just">
              <a:spcBef>
                <a:spcPct val="20000"/>
              </a:spcBef>
              <a:buClr>
                <a:schemeClr val="accent3"/>
              </a:buClr>
              <a:buSzPct val="95000"/>
              <a:buFont typeface="Wingdings 2"/>
              <a:buChar char=""/>
              <a:defRPr/>
            </a:pPr>
            <a:r>
              <a:rPr lang="en-IN" sz="2600"/>
              <a:t>The liquid crystal twists the polarization of light entering one filter to allow it to pass through the other. </a:t>
            </a:r>
          </a:p>
          <a:p>
            <a:pPr marL="274320" indent="-274320" algn="just">
              <a:spcBef>
                <a:spcPct val="20000"/>
              </a:spcBef>
              <a:buClr>
                <a:schemeClr val="accent3"/>
              </a:buClr>
              <a:buSzPct val="95000"/>
              <a:buFont typeface="Wingdings 2"/>
              <a:buChar char=""/>
              <a:defRPr/>
            </a:pPr>
            <a:r>
              <a:rPr lang="en-IN" sz="2600"/>
              <a:t>A program must interact with the outside world using input and output devices that communicate directly with a human being. One of the most common devices attached to an controller is an LCD display. </a:t>
            </a:r>
          </a:p>
          <a:p>
            <a:pPr marL="274320" indent="-274320">
              <a:spcBef>
                <a:spcPct val="20000"/>
              </a:spcBef>
              <a:buClr>
                <a:schemeClr val="accent3"/>
              </a:buClr>
              <a:buSzPct val="95000"/>
              <a:buFont typeface="Wingdings 2"/>
              <a:buChar char=""/>
              <a:defRPr/>
            </a:pPr>
            <a:endParaRPr lang="en-IN" sz="2600" dirty="0"/>
          </a:p>
        </p:txBody>
      </p:sp>
      <p:sp>
        <p:nvSpPr>
          <p:cNvPr id="3" name="Title 2"/>
          <p:cNvSpPr txBox="1">
            <a:spLocks/>
          </p:cNvSpPr>
          <p:nvPr/>
        </p:nvSpPr>
        <p:spPr>
          <a:xfrm>
            <a:off x="1981200" y="274638"/>
            <a:ext cx="8229600" cy="725470"/>
          </a:xfrm>
          <a:prstGeom prst="rect">
            <a:avLst/>
          </a:prstGeom>
        </p:spPr>
        <p:txBody>
          <a:bodyPr/>
          <a:lstStyle/>
          <a:p>
            <a:pPr>
              <a:spcBef>
                <a:spcPct val="0"/>
              </a:spcBef>
              <a:defRPr/>
            </a:pPr>
            <a:r>
              <a:rPr lang="en-US" sz="5000">
                <a:solidFill>
                  <a:schemeClr val="tx2"/>
                </a:solidFill>
                <a:latin typeface="+mj-lt"/>
                <a:ea typeface="+mj-ea"/>
                <a:cs typeface="+mj-cs"/>
              </a:rPr>
              <a:t>LCD</a:t>
            </a:r>
            <a:endParaRPr lang="en-IN" sz="5000" dirty="0">
              <a:solidFill>
                <a:schemeClr val="tx2"/>
              </a:solidFill>
              <a:latin typeface="+mj-lt"/>
              <a:ea typeface="+mj-ea"/>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txBox="1">
            <a:spLocks/>
          </p:cNvSpPr>
          <p:nvPr/>
        </p:nvSpPr>
        <p:spPr>
          <a:xfrm>
            <a:off x="2008095" y="1821646"/>
            <a:ext cx="7174006" cy="3964809"/>
          </a:xfrm>
          <a:prstGeom prst="rect">
            <a:avLst/>
          </a:prstGeom>
        </p:spPr>
        <p:txBody>
          <a:bodyPr>
            <a:normAutofit/>
          </a:bodyPr>
          <a:lstStyle/>
          <a:p>
            <a:pPr marL="342900" indent="-342900" fontAlgn="base">
              <a:buFont typeface="Arial" panose="020B0604020202020204" pitchFamily="34" charset="0"/>
              <a:buChar char="•"/>
            </a:pPr>
            <a:r>
              <a:rPr lang="en-US" sz="2100" dirty="0"/>
              <a:t>The operating voltage of this LCD is 4.7V-5.3V</a:t>
            </a:r>
          </a:p>
          <a:p>
            <a:pPr marL="342900" indent="-342900" fontAlgn="base">
              <a:buFont typeface="Arial" panose="020B0604020202020204" pitchFamily="34" charset="0"/>
              <a:buChar char="•"/>
            </a:pPr>
            <a:r>
              <a:rPr lang="en-US" sz="2100" dirty="0"/>
              <a:t>It includes two rows where each row can produce 16-characters.</a:t>
            </a:r>
          </a:p>
          <a:p>
            <a:pPr marL="342900" indent="-342900" fontAlgn="base">
              <a:buFont typeface="Arial" panose="020B0604020202020204" pitchFamily="34" charset="0"/>
              <a:buChar char="•"/>
            </a:pPr>
            <a:r>
              <a:rPr lang="en-US" sz="2100" dirty="0"/>
              <a:t>The utilization of current is 1mA with no backlight</a:t>
            </a:r>
          </a:p>
          <a:p>
            <a:pPr marL="342900" indent="-342900" fontAlgn="base">
              <a:buFont typeface="Arial" panose="020B0604020202020204" pitchFamily="34" charset="0"/>
              <a:buChar char="•"/>
            </a:pPr>
            <a:r>
              <a:rPr lang="en-US" sz="2100" dirty="0"/>
              <a:t>Every character can be built with a 5×8 pixel box</a:t>
            </a:r>
          </a:p>
          <a:p>
            <a:pPr marL="342900" indent="-342900" fontAlgn="base">
              <a:buFont typeface="Arial" panose="020B0604020202020204" pitchFamily="34" charset="0"/>
              <a:buChar char="•"/>
            </a:pPr>
            <a:r>
              <a:rPr lang="en-US" sz="2100" dirty="0"/>
              <a:t>The alphanumeric LCDs alphabets &amp; numbers</a:t>
            </a:r>
          </a:p>
          <a:p>
            <a:pPr marL="342900" indent="-342900" fontAlgn="base">
              <a:buFont typeface="Arial" panose="020B0604020202020204" pitchFamily="34" charset="0"/>
              <a:buChar char="•"/>
            </a:pPr>
            <a:r>
              <a:rPr lang="en-US" sz="2100" dirty="0"/>
              <a:t>Is display can work on two modes like 4-bit &amp; 8-bit</a:t>
            </a:r>
          </a:p>
          <a:p>
            <a:pPr marL="342900" indent="-342900" fontAlgn="base">
              <a:buFont typeface="Arial" panose="020B0604020202020204" pitchFamily="34" charset="0"/>
              <a:buChar char="•"/>
            </a:pPr>
            <a:r>
              <a:rPr lang="en-US" sz="2100" dirty="0"/>
              <a:t>These are obtainable in Blue &amp; Green Backlight</a:t>
            </a:r>
          </a:p>
          <a:p>
            <a:pPr marL="342900" indent="-342900" fontAlgn="base">
              <a:buFont typeface="Arial" panose="020B0604020202020204" pitchFamily="34" charset="0"/>
              <a:buChar char="•"/>
            </a:pPr>
            <a:r>
              <a:rPr lang="en-US" sz="2100" dirty="0"/>
              <a:t>It displays a few custom generated characters</a:t>
            </a:r>
          </a:p>
        </p:txBody>
      </p:sp>
      <p:sp>
        <p:nvSpPr>
          <p:cNvPr id="3" name="Title 2"/>
          <p:cNvSpPr txBox="1">
            <a:spLocks/>
          </p:cNvSpPr>
          <p:nvPr/>
        </p:nvSpPr>
        <p:spPr>
          <a:xfrm>
            <a:off x="3009900" y="1063229"/>
            <a:ext cx="6172200" cy="857250"/>
          </a:xfrm>
          <a:prstGeom prst="rect">
            <a:avLst/>
          </a:prstGeom>
        </p:spPr>
        <p:txBody>
          <a:bodyPr/>
          <a:lstStyle/>
          <a:p>
            <a:pPr>
              <a:spcBef>
                <a:spcPct val="0"/>
              </a:spcBef>
              <a:defRPr/>
            </a:pPr>
            <a:r>
              <a:rPr lang="en-US" sz="3750">
                <a:solidFill>
                  <a:schemeClr val="tx2"/>
                </a:solidFill>
                <a:latin typeface="+mj-lt"/>
                <a:ea typeface="+mj-ea"/>
                <a:cs typeface="+mj-cs"/>
              </a:rPr>
              <a:t>FEATURES:</a:t>
            </a:r>
            <a:endParaRPr lang="en-IN" sz="3750" dirty="0">
              <a:solidFill>
                <a:schemeClr val="tx2"/>
              </a:solidFill>
              <a:latin typeface="+mj-lt"/>
              <a:ea typeface="+mj-ea"/>
              <a:cs typeface="+mj-cs"/>
            </a:endParaRPr>
          </a:p>
        </p:txBody>
      </p:sp>
    </p:spTree>
    <p:extLst>
      <p:ext uri="{BB962C8B-B14F-4D97-AF65-F5344CB8AC3E}">
        <p14:creationId xmlns:p14="http://schemas.microsoft.com/office/powerpoint/2010/main" val="483410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p:cNvSpPr>
          <p:nvPr/>
        </p:nvSpPr>
        <p:spPr>
          <a:xfrm>
            <a:off x="1981200" y="274638"/>
            <a:ext cx="8229600" cy="1143000"/>
          </a:xfrm>
          <a:prstGeom prst="rect">
            <a:avLst/>
          </a:prstGeom>
        </p:spPr>
        <p:txBody>
          <a:bodyPr/>
          <a:lstStyle/>
          <a:p>
            <a:pPr>
              <a:spcBef>
                <a:spcPct val="0"/>
              </a:spcBef>
              <a:defRPr/>
            </a:pPr>
            <a:r>
              <a:rPr lang="en-US" sz="5000">
                <a:solidFill>
                  <a:schemeClr val="tx2"/>
                </a:solidFill>
                <a:latin typeface="+mj-lt"/>
                <a:ea typeface="+mj-ea"/>
                <a:cs typeface="+mj-cs"/>
              </a:rPr>
              <a:t>PIN DESCRIPTION</a:t>
            </a:r>
            <a:endParaRPr lang="en-IN" sz="5000" dirty="0">
              <a:solidFill>
                <a:schemeClr val="tx2"/>
              </a:solidFill>
              <a:latin typeface="+mj-lt"/>
              <a:ea typeface="+mj-ea"/>
              <a:cs typeface="+mj-cs"/>
            </a:endParaRPr>
          </a:p>
        </p:txBody>
      </p:sp>
      <p:pic>
        <p:nvPicPr>
          <p:cNvPr id="3" name="Picture 2" descr="Image result for LCD"/>
          <p:cNvPicPr>
            <a:picLocks noChangeAspect="1" noChangeArrowheads="1"/>
          </p:cNvPicPr>
          <p:nvPr/>
        </p:nvPicPr>
        <p:blipFill>
          <a:blip r:embed="rId2" cstate="print"/>
          <a:srcRect/>
          <a:stretch>
            <a:fillRect/>
          </a:stretch>
        </p:blipFill>
        <p:spPr bwMode="auto">
          <a:xfrm>
            <a:off x="2381224" y="1643050"/>
            <a:ext cx="7143800" cy="436405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209800" y="533401"/>
            <a:ext cx="7772400" cy="1066799"/>
          </a:xfrm>
          <a:prstGeom prst="rect">
            <a:avLst/>
          </a:prstGeom>
        </p:spPr>
        <p:txBody>
          <a:bodyPr>
            <a:normAutofit/>
          </a:bodyPr>
          <a:lstStyle/>
          <a:p>
            <a:pPr>
              <a:spcBef>
                <a:spcPct val="0"/>
              </a:spcBef>
              <a:defRPr/>
            </a:pPr>
            <a:r>
              <a:rPr lang="en-US" sz="5000">
                <a:solidFill>
                  <a:schemeClr val="tx2"/>
                </a:solidFill>
                <a:latin typeface="+mj-lt"/>
                <a:ea typeface="+mj-ea"/>
                <a:cs typeface="+mj-cs"/>
              </a:rPr>
              <a:t>RELAY</a:t>
            </a:r>
            <a:endParaRPr lang="en-IN" sz="5000" dirty="0">
              <a:solidFill>
                <a:schemeClr val="tx2"/>
              </a:solidFill>
              <a:latin typeface="+mj-lt"/>
              <a:ea typeface="+mj-ea"/>
              <a:cs typeface="+mj-cs"/>
            </a:endParaRPr>
          </a:p>
        </p:txBody>
      </p:sp>
      <p:sp>
        <p:nvSpPr>
          <p:cNvPr id="3" name="Content Placeholder 2"/>
          <p:cNvSpPr txBox="1">
            <a:spLocks/>
          </p:cNvSpPr>
          <p:nvPr/>
        </p:nvSpPr>
        <p:spPr>
          <a:xfrm>
            <a:off x="2166910" y="1857364"/>
            <a:ext cx="8077200" cy="4572000"/>
          </a:xfrm>
          <a:prstGeom prst="rect">
            <a:avLst/>
          </a:prstGeom>
        </p:spPr>
        <p:txBody>
          <a:bodyPr/>
          <a:lstStyle/>
          <a:p>
            <a:pPr marL="274320" indent="-274320" algn="just">
              <a:spcBef>
                <a:spcPct val="20000"/>
              </a:spcBef>
              <a:buClr>
                <a:schemeClr val="accent3"/>
              </a:buClr>
              <a:buSzPct val="95000"/>
              <a:buFont typeface="Wingdings 2"/>
              <a:buChar char=""/>
              <a:defRPr/>
            </a:pPr>
            <a:r>
              <a:rPr lang="en-US" sz="2600" dirty="0"/>
              <a:t>A relay is an electrical switch that opens and closes under the control of another electrical circuit.</a:t>
            </a:r>
          </a:p>
          <a:p>
            <a:pPr marL="274320" indent="-274320" algn="just">
              <a:spcBef>
                <a:spcPct val="20000"/>
              </a:spcBef>
              <a:buClr>
                <a:schemeClr val="accent3"/>
              </a:buClr>
              <a:buSzPct val="95000"/>
              <a:buFont typeface="Wingdings 2"/>
              <a:buChar char=""/>
              <a:defRPr/>
            </a:pPr>
            <a:r>
              <a:rPr lang="en-US" sz="2600" dirty="0"/>
              <a:t> In the original form, the switch is operated by an electromagnet to open or close one or many sets of contacts. </a:t>
            </a:r>
          </a:p>
          <a:p>
            <a:pPr marL="274320" indent="-274320" algn="just">
              <a:spcBef>
                <a:spcPct val="20000"/>
              </a:spcBef>
              <a:buClr>
                <a:schemeClr val="accent3"/>
              </a:buClr>
              <a:buSzPct val="95000"/>
              <a:buFont typeface="Wingdings 2"/>
              <a:buChar char=""/>
              <a:defRPr/>
            </a:pPr>
            <a:r>
              <a:rPr lang="en-US" sz="2600" dirty="0"/>
              <a:t>A relay is able to control an output circuit of higher power than the input circuit, it can be considered to be, in a broad sense, a form of an electrical amplifier.</a:t>
            </a:r>
            <a:endParaRPr lang="en-IN" sz="2600" dirty="0"/>
          </a:p>
          <a:p>
            <a:pPr marL="274320" indent="-274320">
              <a:spcBef>
                <a:spcPct val="20000"/>
              </a:spcBef>
              <a:buClr>
                <a:schemeClr val="accent3"/>
              </a:buClr>
              <a:buSzPct val="95000"/>
              <a:buFont typeface="Wingdings 2"/>
              <a:buChar char=""/>
              <a:defRPr/>
            </a:pPr>
            <a:endParaRPr lang="en-IN" sz="2600" dirty="0"/>
          </a:p>
        </p:txBody>
      </p:sp>
      <p:pic>
        <p:nvPicPr>
          <p:cNvPr id="4" name="Picture 6" descr="Related image"/>
          <p:cNvPicPr>
            <a:picLocks noChangeAspect="1" noChangeArrowheads="1"/>
          </p:cNvPicPr>
          <p:nvPr/>
        </p:nvPicPr>
        <p:blipFill>
          <a:blip r:embed="rId2" cstate="print"/>
          <a:srcRect/>
          <a:stretch>
            <a:fillRect/>
          </a:stretch>
        </p:blipFill>
        <p:spPr bwMode="auto">
          <a:xfrm>
            <a:off x="8167702" y="-214338"/>
            <a:ext cx="2143140" cy="214314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959608" y="274638"/>
            <a:ext cx="7498080" cy="1143000"/>
          </a:xfrm>
          <a:prstGeom prst="rect">
            <a:avLst/>
          </a:prstGeom>
        </p:spPr>
        <p:txBody>
          <a:bodyPr/>
          <a:lstStyle/>
          <a:p>
            <a:pPr>
              <a:spcBef>
                <a:spcPct val="0"/>
              </a:spcBef>
              <a:defRPr/>
            </a:pPr>
            <a:r>
              <a:rPr lang="en-US" sz="5000">
                <a:solidFill>
                  <a:schemeClr val="tx2"/>
                </a:solidFill>
                <a:latin typeface="+mj-lt"/>
                <a:ea typeface="+mj-ea"/>
                <a:cs typeface="+mj-cs"/>
              </a:rPr>
              <a:t>ULTRASONIC SENSOR</a:t>
            </a:r>
            <a:endParaRPr lang="en-IN" sz="5000" dirty="0">
              <a:solidFill>
                <a:schemeClr val="tx2"/>
              </a:solidFill>
              <a:latin typeface="+mj-lt"/>
              <a:ea typeface="+mj-ea"/>
              <a:cs typeface="+mj-cs"/>
            </a:endParaRPr>
          </a:p>
        </p:txBody>
      </p:sp>
      <p:sp>
        <p:nvSpPr>
          <p:cNvPr id="3" name="Content Placeholder 2"/>
          <p:cNvSpPr txBox="1">
            <a:spLocks/>
          </p:cNvSpPr>
          <p:nvPr/>
        </p:nvSpPr>
        <p:spPr>
          <a:xfrm>
            <a:off x="1524000" y="1447800"/>
            <a:ext cx="8933688" cy="5124472"/>
          </a:xfrm>
          <a:prstGeom prst="rect">
            <a:avLst/>
          </a:prstGeom>
        </p:spPr>
        <p:txBody>
          <a:bodyPr numCol="1">
            <a:normAutofit/>
          </a:bodyPr>
          <a:lstStyle/>
          <a:p>
            <a:pPr marL="274320" indent="-274320" algn="just">
              <a:spcBef>
                <a:spcPct val="20000"/>
              </a:spcBef>
              <a:buClr>
                <a:schemeClr val="accent3"/>
              </a:buClr>
              <a:buSzPct val="95000"/>
              <a:buFont typeface="Wingdings 2"/>
              <a:buChar char=""/>
              <a:defRPr/>
            </a:pPr>
            <a:r>
              <a:rPr lang="en-US" sz="2600" dirty="0"/>
              <a:t>An Ultrasonic sensor is a device that can measure the distance to an object by using sound waves. </a:t>
            </a:r>
          </a:p>
          <a:p>
            <a:pPr marL="274320" indent="-274320" algn="just">
              <a:spcBef>
                <a:spcPct val="20000"/>
              </a:spcBef>
              <a:buClr>
                <a:schemeClr val="accent3"/>
              </a:buClr>
              <a:buSzPct val="95000"/>
              <a:buFont typeface="Wingdings 2"/>
              <a:buChar char=""/>
              <a:defRPr/>
            </a:pPr>
            <a:r>
              <a:rPr lang="en-US" sz="2600" dirty="0"/>
              <a:t>It measures distance by sending out a sound wave at a specific frequency and listening for that sound wave to bounce back. </a:t>
            </a:r>
          </a:p>
          <a:p>
            <a:pPr marL="274320" indent="-274320" algn="just">
              <a:spcBef>
                <a:spcPct val="20000"/>
              </a:spcBef>
              <a:buClr>
                <a:schemeClr val="accent3"/>
              </a:buClr>
              <a:buSzPct val="95000"/>
              <a:buFont typeface="Wingdings 2"/>
              <a:buChar char=""/>
              <a:defRPr/>
            </a:pPr>
            <a:r>
              <a:rPr lang="en-US" sz="2600" dirty="0"/>
              <a:t>By recording the elapsed time between the sound wave being generated and the sound wave bouncing back, it is possible to calculate the distance between the sonar sensor and the object.</a:t>
            </a:r>
            <a:endParaRPr lang="en-IN" sz="2600" dirty="0"/>
          </a:p>
          <a:p>
            <a:pPr marL="274320" indent="-274320" algn="just">
              <a:spcBef>
                <a:spcPct val="20000"/>
              </a:spcBef>
              <a:buClr>
                <a:schemeClr val="accent3"/>
              </a:buClr>
              <a:buSzPct val="95000"/>
              <a:buFont typeface="Wingdings 2"/>
              <a:buChar char=""/>
              <a:defRPr/>
            </a:pPr>
            <a:endParaRPr lang="en-IN"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959608" y="274638"/>
            <a:ext cx="7498080" cy="1143000"/>
          </a:xfrm>
          <a:prstGeom prst="rect">
            <a:avLst/>
          </a:prstGeom>
        </p:spPr>
        <p:txBody>
          <a:bodyPr/>
          <a:lstStyle/>
          <a:p>
            <a:pPr>
              <a:spcBef>
                <a:spcPct val="0"/>
              </a:spcBef>
              <a:defRPr/>
            </a:pPr>
            <a:r>
              <a:rPr lang="en-US" sz="5000">
                <a:solidFill>
                  <a:schemeClr val="tx2"/>
                </a:solidFill>
                <a:latin typeface="+mj-lt"/>
                <a:ea typeface="+mj-ea"/>
                <a:cs typeface="+mj-cs"/>
              </a:rPr>
              <a:t>FEATURES</a:t>
            </a:r>
            <a:endParaRPr lang="en-IN" sz="5000" dirty="0">
              <a:solidFill>
                <a:schemeClr val="tx2"/>
              </a:solidFill>
              <a:latin typeface="+mj-lt"/>
              <a:ea typeface="+mj-ea"/>
              <a:cs typeface="+mj-cs"/>
            </a:endParaRPr>
          </a:p>
        </p:txBody>
      </p:sp>
      <p:sp>
        <p:nvSpPr>
          <p:cNvPr id="3" name="Content Placeholder 2"/>
          <p:cNvSpPr txBox="1">
            <a:spLocks/>
          </p:cNvSpPr>
          <p:nvPr/>
        </p:nvSpPr>
        <p:spPr>
          <a:xfrm>
            <a:off x="1881158" y="1214422"/>
            <a:ext cx="8576530" cy="5643578"/>
          </a:xfrm>
          <a:prstGeom prst="rect">
            <a:avLst/>
          </a:prstGeom>
        </p:spPr>
        <p:txBody>
          <a:bodyPr>
            <a:normAutofit/>
          </a:bodyPr>
          <a:lstStyle/>
          <a:p>
            <a:pPr marL="274320" indent="-274320" algn="just">
              <a:spcBef>
                <a:spcPct val="20000"/>
              </a:spcBef>
              <a:buClr>
                <a:schemeClr val="accent3"/>
              </a:buClr>
              <a:buSzPct val="95000"/>
              <a:defRPr/>
            </a:pPr>
            <a:r>
              <a:rPr lang="en-IN" sz="2600"/>
              <a:t>Ultrasonic ranging module HC - SR04 provides</a:t>
            </a:r>
          </a:p>
          <a:p>
            <a:pPr marL="274320" indent="-274320" algn="just">
              <a:spcBef>
                <a:spcPct val="20000"/>
              </a:spcBef>
              <a:buClr>
                <a:schemeClr val="accent3"/>
              </a:buClr>
              <a:buSzPct val="95000"/>
              <a:buFont typeface="Wingdings 2"/>
              <a:buChar char=""/>
              <a:defRPr/>
            </a:pPr>
            <a:r>
              <a:rPr lang="en-IN" sz="2600"/>
              <a:t> 2cm - 400cm non-contact measurement function, </a:t>
            </a:r>
          </a:p>
          <a:p>
            <a:pPr marL="274320" indent="-274320" algn="just">
              <a:spcBef>
                <a:spcPct val="20000"/>
              </a:spcBef>
              <a:buClr>
                <a:schemeClr val="accent3"/>
              </a:buClr>
              <a:buSzPct val="95000"/>
              <a:buFont typeface="Wingdings 2"/>
              <a:buChar char=""/>
              <a:defRPr/>
            </a:pPr>
            <a:r>
              <a:rPr lang="en-IN" sz="2600"/>
              <a:t>the ranging accuracy can reach to 3mm</a:t>
            </a:r>
          </a:p>
          <a:p>
            <a:pPr marL="274320" indent="-274320" fontAlgn="base">
              <a:spcBef>
                <a:spcPct val="20000"/>
              </a:spcBef>
              <a:buClr>
                <a:schemeClr val="accent3"/>
              </a:buClr>
              <a:buSzPct val="95000"/>
              <a:defRPr/>
            </a:pPr>
            <a:r>
              <a:rPr lang="en-IN" sz="2600"/>
              <a:t>The basic principle of work:</a:t>
            </a:r>
          </a:p>
          <a:p>
            <a:pPr marL="274320" indent="-274320" fontAlgn="base">
              <a:spcBef>
                <a:spcPct val="20000"/>
              </a:spcBef>
              <a:buClr>
                <a:schemeClr val="accent3"/>
              </a:buClr>
              <a:buSzPct val="95000"/>
              <a:defRPr/>
            </a:pPr>
            <a:r>
              <a:rPr lang="en-IN" sz="2600"/>
              <a:t> (1) Using IO trigger for at least 10us high level signal.</a:t>
            </a:r>
          </a:p>
          <a:p>
            <a:pPr marL="274320" indent="-274320" fontAlgn="base">
              <a:spcBef>
                <a:spcPct val="20000"/>
              </a:spcBef>
              <a:buClr>
                <a:schemeClr val="accent3"/>
              </a:buClr>
              <a:buSzPct val="95000"/>
              <a:defRPr/>
            </a:pPr>
            <a:r>
              <a:rPr lang="en-IN" sz="2600"/>
              <a:t> (2) The Module automatically sends eight 40 kHz and detect whether there is a pulse signal back.</a:t>
            </a:r>
          </a:p>
          <a:p>
            <a:pPr marL="274320" indent="-274320" fontAlgn="base">
              <a:spcBef>
                <a:spcPct val="20000"/>
              </a:spcBef>
              <a:buClr>
                <a:schemeClr val="accent3"/>
              </a:buClr>
              <a:buSzPct val="95000"/>
              <a:defRPr/>
            </a:pPr>
            <a:r>
              <a:rPr lang="en-IN" sz="2600"/>
              <a:t>(3) IF the signal back, through high level , time of high output IO duration is the time from sending ultrasonic to returning. </a:t>
            </a:r>
          </a:p>
          <a:p>
            <a:pPr marL="274320" indent="-274320" algn="just">
              <a:spcBef>
                <a:spcPct val="20000"/>
              </a:spcBef>
              <a:buClr>
                <a:schemeClr val="accent3"/>
              </a:buClr>
              <a:buSzPct val="95000"/>
              <a:buFont typeface="Wingdings 2"/>
              <a:buChar char=""/>
              <a:defRPr/>
            </a:pPr>
            <a:endParaRPr lang="en-IN"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education.rec.ri.cmu.edu/content/electronics/boe/ultrasonic_sensor/images/800px-Ultrasonic_Sensor_Concept_Diagram.png"/>
          <p:cNvPicPr/>
          <p:nvPr/>
        </p:nvPicPr>
        <p:blipFill>
          <a:blip r:embed="rId2" cstate="print"/>
          <a:srcRect/>
          <a:stretch>
            <a:fillRect/>
          </a:stretch>
        </p:blipFill>
        <p:spPr bwMode="auto">
          <a:xfrm>
            <a:off x="3381356" y="500042"/>
            <a:ext cx="6572296" cy="2714644"/>
          </a:xfrm>
          <a:prstGeom prst="rect">
            <a:avLst/>
          </a:prstGeom>
          <a:noFill/>
          <a:ln w="9525">
            <a:noFill/>
            <a:miter lim="800000"/>
            <a:headEnd/>
            <a:tailEnd/>
          </a:ln>
        </p:spPr>
      </p:pic>
      <p:pic>
        <p:nvPicPr>
          <p:cNvPr id="3" name="Picture 2" descr="Image result for ultrasonic sensor"/>
          <p:cNvPicPr/>
          <p:nvPr/>
        </p:nvPicPr>
        <p:blipFill>
          <a:blip r:embed="rId3" cstate="print"/>
          <a:srcRect/>
          <a:stretch>
            <a:fillRect/>
          </a:stretch>
        </p:blipFill>
        <p:spPr bwMode="auto">
          <a:xfrm>
            <a:off x="3167042" y="3500439"/>
            <a:ext cx="5786478" cy="274320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81200" y="274638"/>
            <a:ext cx="7467600" cy="1143000"/>
          </a:xfrm>
          <a:prstGeom prst="rect">
            <a:avLst/>
          </a:prstGeom>
        </p:spPr>
        <p:txBody>
          <a:bodyPr/>
          <a:lstStyle/>
          <a:p>
            <a:pPr>
              <a:spcBef>
                <a:spcPct val="0"/>
              </a:spcBef>
              <a:defRPr/>
            </a:pPr>
            <a:r>
              <a:rPr lang="en-US" sz="5000">
                <a:solidFill>
                  <a:schemeClr val="tx2"/>
                </a:solidFill>
                <a:latin typeface="+mj-lt"/>
                <a:ea typeface="+mj-ea"/>
                <a:cs typeface="+mj-cs"/>
              </a:rPr>
              <a:t>AURDINO CONTROLLER</a:t>
            </a:r>
            <a:endParaRPr lang="en-IN" sz="5000" dirty="0">
              <a:solidFill>
                <a:schemeClr val="tx2"/>
              </a:solidFill>
              <a:latin typeface="+mj-lt"/>
              <a:ea typeface="+mj-ea"/>
              <a:cs typeface="+mj-cs"/>
            </a:endParaRPr>
          </a:p>
        </p:txBody>
      </p:sp>
      <p:sp>
        <p:nvSpPr>
          <p:cNvPr id="3" name="Content Placeholder 2"/>
          <p:cNvSpPr txBox="1">
            <a:spLocks/>
          </p:cNvSpPr>
          <p:nvPr/>
        </p:nvSpPr>
        <p:spPr>
          <a:xfrm>
            <a:off x="1981200" y="1600200"/>
            <a:ext cx="7901014" cy="4873752"/>
          </a:xfrm>
          <a:prstGeom prst="rect">
            <a:avLst/>
          </a:prstGeom>
        </p:spPr>
        <p:txBody>
          <a:bodyPr>
            <a:normAutofit fontScale="92500" lnSpcReduction="20000"/>
          </a:bodyPr>
          <a:lstStyle/>
          <a:p>
            <a:pPr marL="274320" indent="-274320" algn="just">
              <a:spcBef>
                <a:spcPct val="20000"/>
              </a:spcBef>
              <a:buClr>
                <a:schemeClr val="accent3"/>
              </a:buClr>
              <a:buSzPct val="95000"/>
              <a:buFont typeface="Wingdings 2"/>
              <a:buChar char=""/>
              <a:defRPr/>
            </a:pPr>
            <a:r>
              <a:rPr lang="en-US" sz="2600" dirty="0"/>
              <a:t>The </a:t>
            </a:r>
            <a:r>
              <a:rPr lang="en-US" sz="2600" dirty="0" err="1"/>
              <a:t>Arduino</a:t>
            </a:r>
            <a:r>
              <a:rPr lang="en-US" sz="2600" dirty="0"/>
              <a:t> Uno is a microcontroller board based on the ATmega328. It has 14 digital input/output pins (of which 6 can be used as PWM outputs), 6 analog inputs, a 16 MHz ceramic resonator, a USB connection, a power jack, an ICSP header, and a reset button. </a:t>
            </a:r>
          </a:p>
          <a:p>
            <a:pPr marL="274320" indent="-274320" algn="just">
              <a:spcBef>
                <a:spcPct val="20000"/>
              </a:spcBef>
              <a:buClr>
                <a:schemeClr val="accent3"/>
              </a:buClr>
              <a:buSzPct val="95000"/>
              <a:buFont typeface="Wingdings 2"/>
              <a:buChar char=""/>
              <a:defRPr/>
            </a:pPr>
            <a:r>
              <a:rPr lang="en-US" sz="2600" dirty="0"/>
              <a:t>It contains everything needed to support the microcontroller; simply connect it to a computer with a USB cable or power it with a AC-to-DC adapter or battery to get started. </a:t>
            </a:r>
            <a:endParaRPr lang="en-IN" sz="2600" dirty="0"/>
          </a:p>
          <a:p>
            <a:pPr marL="274320" indent="-274320" algn="just">
              <a:spcBef>
                <a:spcPct val="20000"/>
              </a:spcBef>
              <a:buClr>
                <a:schemeClr val="accent3"/>
              </a:buClr>
              <a:buSzPct val="95000"/>
              <a:buFont typeface="Wingdings 2"/>
              <a:buChar char=""/>
              <a:defRPr/>
            </a:pPr>
            <a:r>
              <a:rPr lang="en-US" sz="2600" dirty="0"/>
              <a:t>The Uno differs from all preceding boards in that it does not use the FTDI USB-to-serial driver chip. Instead, it features the Atmega16U2 (Atmega8U2 up to version R2) programmed as a USB-to-serial converter</a:t>
            </a:r>
            <a:endParaRPr lang="en-IN"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981200" y="274638"/>
            <a:ext cx="7467600" cy="1143000"/>
          </a:xfrm>
          <a:prstGeom prst="rect">
            <a:avLst/>
          </a:prstGeom>
        </p:spPr>
        <p:txBody>
          <a:bodyPr/>
          <a:lstStyle/>
          <a:p>
            <a:pPr>
              <a:spcBef>
                <a:spcPct val="0"/>
              </a:spcBef>
              <a:defRPr/>
            </a:pPr>
            <a:r>
              <a:rPr lang="en-US" sz="5000">
                <a:solidFill>
                  <a:schemeClr val="tx2"/>
                </a:solidFill>
                <a:latin typeface="+mj-lt"/>
                <a:ea typeface="+mj-ea"/>
                <a:cs typeface="+mj-cs"/>
              </a:rPr>
              <a:t>SPECIFICATIONS</a:t>
            </a:r>
            <a:endParaRPr lang="en-IN" sz="5000" dirty="0">
              <a:solidFill>
                <a:schemeClr val="tx2"/>
              </a:solidFill>
              <a:latin typeface="+mj-lt"/>
              <a:ea typeface="+mj-ea"/>
              <a:cs typeface="+mj-cs"/>
            </a:endParaRPr>
          </a:p>
        </p:txBody>
      </p:sp>
      <p:sp>
        <p:nvSpPr>
          <p:cNvPr id="3" name="Content Placeholder 2"/>
          <p:cNvSpPr txBox="1">
            <a:spLocks/>
          </p:cNvSpPr>
          <p:nvPr/>
        </p:nvSpPr>
        <p:spPr>
          <a:xfrm>
            <a:off x="1981200" y="1600200"/>
            <a:ext cx="7467600" cy="4873752"/>
          </a:xfrm>
          <a:prstGeom prst="rect">
            <a:avLst/>
          </a:prstGeom>
        </p:spPr>
        <p:txBody>
          <a:bodyPr>
            <a:normAutofit fontScale="85000" lnSpcReduction="10000"/>
          </a:bodyPr>
          <a:lstStyle/>
          <a:p>
            <a:pPr marL="274320" indent="-274320">
              <a:spcBef>
                <a:spcPct val="20000"/>
              </a:spcBef>
              <a:buClr>
                <a:schemeClr val="accent3"/>
              </a:buClr>
              <a:buSzPct val="95000"/>
              <a:buFont typeface="Wingdings 2"/>
              <a:buChar char=""/>
              <a:defRPr/>
            </a:pPr>
            <a:r>
              <a:rPr lang="en-US" sz="2600" dirty="0"/>
              <a:t>Microcontroller : ATmega328 </a:t>
            </a:r>
            <a:endParaRPr lang="en-IN" sz="2600" dirty="0"/>
          </a:p>
          <a:p>
            <a:pPr marL="274320" indent="-274320">
              <a:spcBef>
                <a:spcPct val="20000"/>
              </a:spcBef>
              <a:buClr>
                <a:schemeClr val="accent3"/>
              </a:buClr>
              <a:buSzPct val="95000"/>
              <a:buFont typeface="Wingdings 2"/>
              <a:buChar char=""/>
              <a:defRPr/>
            </a:pPr>
            <a:r>
              <a:rPr lang="en-US" sz="2600" dirty="0"/>
              <a:t>Operating Voltage: 5V</a:t>
            </a:r>
            <a:endParaRPr lang="en-IN" sz="2600" dirty="0"/>
          </a:p>
          <a:p>
            <a:pPr marL="274320" indent="-274320">
              <a:spcBef>
                <a:spcPct val="20000"/>
              </a:spcBef>
              <a:buClr>
                <a:schemeClr val="accent3"/>
              </a:buClr>
              <a:buSzPct val="95000"/>
              <a:buFont typeface="Wingdings 2"/>
              <a:buChar char=""/>
              <a:defRPr/>
            </a:pPr>
            <a:r>
              <a:rPr lang="en-US" sz="2600" dirty="0"/>
              <a:t> Input Voltage (recommended): 7-12V</a:t>
            </a:r>
            <a:endParaRPr lang="en-IN" sz="2600" dirty="0"/>
          </a:p>
          <a:p>
            <a:pPr marL="274320" indent="-274320">
              <a:spcBef>
                <a:spcPct val="20000"/>
              </a:spcBef>
              <a:buClr>
                <a:schemeClr val="accent3"/>
              </a:buClr>
              <a:buSzPct val="95000"/>
              <a:buFont typeface="Wingdings 2"/>
              <a:buChar char=""/>
              <a:defRPr/>
            </a:pPr>
            <a:r>
              <a:rPr lang="en-US" sz="2600" dirty="0"/>
              <a:t> Input Voltage (limits):    6-20V </a:t>
            </a:r>
            <a:endParaRPr lang="en-IN" sz="2600" dirty="0"/>
          </a:p>
          <a:p>
            <a:pPr marL="274320" indent="-274320">
              <a:spcBef>
                <a:spcPct val="20000"/>
              </a:spcBef>
              <a:buClr>
                <a:schemeClr val="accent3"/>
              </a:buClr>
              <a:buSzPct val="95000"/>
              <a:buFont typeface="Wingdings 2"/>
              <a:buChar char=""/>
              <a:defRPr/>
            </a:pPr>
            <a:r>
              <a:rPr lang="en-US" sz="2600" dirty="0"/>
              <a:t>Digital I/O Pins :  14 (of which 6 provide PWM output)</a:t>
            </a:r>
            <a:endParaRPr lang="en-IN" sz="2600" dirty="0"/>
          </a:p>
          <a:p>
            <a:pPr marL="274320" indent="-274320">
              <a:spcBef>
                <a:spcPct val="20000"/>
              </a:spcBef>
              <a:buClr>
                <a:schemeClr val="accent3"/>
              </a:buClr>
              <a:buSzPct val="95000"/>
              <a:buFont typeface="Wingdings 2"/>
              <a:buChar char=""/>
              <a:defRPr/>
            </a:pPr>
            <a:r>
              <a:rPr lang="en-US" sz="2600" dirty="0"/>
              <a:t> Analog Input Pins :  6</a:t>
            </a:r>
            <a:endParaRPr lang="en-IN" sz="2600" dirty="0"/>
          </a:p>
          <a:p>
            <a:pPr marL="274320" indent="-274320">
              <a:spcBef>
                <a:spcPct val="20000"/>
              </a:spcBef>
              <a:buClr>
                <a:schemeClr val="accent3"/>
              </a:buClr>
              <a:buSzPct val="95000"/>
              <a:buFont typeface="Wingdings 2"/>
              <a:buChar char=""/>
              <a:defRPr/>
            </a:pPr>
            <a:r>
              <a:rPr lang="en-US" sz="2600" dirty="0"/>
              <a:t> DC Current per I/O Pin :40 </a:t>
            </a:r>
            <a:r>
              <a:rPr lang="en-US" sz="2600" dirty="0" err="1"/>
              <a:t>mA</a:t>
            </a:r>
            <a:r>
              <a:rPr lang="en-US" sz="2600" dirty="0"/>
              <a:t> </a:t>
            </a:r>
            <a:endParaRPr lang="en-IN" sz="2600" dirty="0"/>
          </a:p>
          <a:p>
            <a:pPr marL="274320" indent="-274320">
              <a:spcBef>
                <a:spcPct val="20000"/>
              </a:spcBef>
              <a:buClr>
                <a:schemeClr val="accent3"/>
              </a:buClr>
              <a:buSzPct val="95000"/>
              <a:buFont typeface="Wingdings 2"/>
              <a:buChar char=""/>
              <a:defRPr/>
            </a:pPr>
            <a:r>
              <a:rPr lang="en-US" sz="2600" dirty="0"/>
              <a:t>DC Current for 3.3V Pin :50 </a:t>
            </a:r>
            <a:r>
              <a:rPr lang="en-US" sz="2600" dirty="0" err="1"/>
              <a:t>mA</a:t>
            </a:r>
            <a:r>
              <a:rPr lang="en-US" sz="2600" dirty="0"/>
              <a:t> </a:t>
            </a:r>
            <a:endParaRPr lang="en-IN" sz="2600" dirty="0"/>
          </a:p>
          <a:p>
            <a:pPr marL="274320" indent="-274320">
              <a:spcBef>
                <a:spcPct val="20000"/>
              </a:spcBef>
              <a:buClr>
                <a:schemeClr val="accent3"/>
              </a:buClr>
              <a:buSzPct val="95000"/>
              <a:buFont typeface="Wingdings 2"/>
              <a:buChar char=""/>
              <a:defRPr/>
            </a:pPr>
            <a:r>
              <a:rPr lang="en-US" sz="2600" dirty="0"/>
              <a:t>Flash Memory 32 KB (ATmega328) of which 0.5 KB used by </a:t>
            </a:r>
            <a:r>
              <a:rPr lang="en-US" sz="2600" dirty="0" err="1"/>
              <a:t>bootloader</a:t>
            </a:r>
            <a:endParaRPr lang="en-IN" sz="2600" dirty="0"/>
          </a:p>
          <a:p>
            <a:pPr marL="274320" indent="-274320">
              <a:spcBef>
                <a:spcPct val="20000"/>
              </a:spcBef>
              <a:buClr>
                <a:schemeClr val="accent3"/>
              </a:buClr>
              <a:buSzPct val="95000"/>
              <a:buFont typeface="Wingdings 2"/>
              <a:buChar char=""/>
              <a:defRPr/>
            </a:pPr>
            <a:r>
              <a:rPr lang="en-US" sz="2600" dirty="0"/>
              <a:t> SRAM 2 KB (ATmega328) </a:t>
            </a:r>
            <a:endParaRPr lang="en-IN" sz="2600" dirty="0"/>
          </a:p>
          <a:p>
            <a:pPr marL="274320" indent="-274320">
              <a:spcBef>
                <a:spcPct val="20000"/>
              </a:spcBef>
              <a:buClr>
                <a:schemeClr val="accent3"/>
              </a:buClr>
              <a:buSzPct val="95000"/>
              <a:buFont typeface="Wingdings 2"/>
              <a:buChar char=""/>
              <a:defRPr/>
            </a:pPr>
            <a:r>
              <a:rPr lang="en-US" sz="2600" dirty="0"/>
              <a:t>EEPROM 1 KB (ATmega328) </a:t>
            </a:r>
            <a:endParaRPr lang="en-IN" sz="2600" dirty="0"/>
          </a:p>
          <a:p>
            <a:pPr marL="274320" indent="-274320">
              <a:spcBef>
                <a:spcPct val="20000"/>
              </a:spcBef>
              <a:buClr>
                <a:schemeClr val="accent3"/>
              </a:buClr>
              <a:buSzPct val="95000"/>
              <a:buFont typeface="Wingdings 2"/>
              <a:buChar char=""/>
              <a:defRPr/>
            </a:pPr>
            <a:r>
              <a:rPr lang="en-US" sz="2600" dirty="0"/>
              <a:t>Clock Speed 16 MHz </a:t>
            </a:r>
            <a:endParaRPr lang="en-IN" sz="2600" dirty="0"/>
          </a:p>
          <a:p>
            <a:pPr marL="274320" indent="-274320">
              <a:spcBef>
                <a:spcPct val="20000"/>
              </a:spcBef>
              <a:buClr>
                <a:schemeClr val="accent3"/>
              </a:buClr>
              <a:buSzPct val="95000"/>
              <a:buFont typeface="Wingdings 2"/>
              <a:buChar char=""/>
              <a:defRPr/>
            </a:pPr>
            <a:endParaRPr lang="en-IN"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rduino Uno R3 CH340G (Robu.in)"/>
          <p:cNvPicPr>
            <a:picLocks noChangeAspect="1" noChangeArrowheads="1"/>
          </p:cNvPicPr>
          <p:nvPr/>
        </p:nvPicPr>
        <p:blipFill>
          <a:blip r:embed="rId2" cstate="print"/>
          <a:srcRect/>
          <a:stretch>
            <a:fillRect/>
          </a:stretch>
        </p:blipFill>
        <p:spPr bwMode="auto">
          <a:xfrm>
            <a:off x="3809984" y="1357298"/>
            <a:ext cx="4286250" cy="428625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DC WATER MOTOR</a:t>
            </a:r>
            <a:endParaRPr lang="en-IN" dirty="0"/>
          </a:p>
        </p:txBody>
      </p:sp>
      <p:sp>
        <p:nvSpPr>
          <p:cNvPr id="3" name="Content Placeholder 2"/>
          <p:cNvSpPr>
            <a:spLocks noGrp="1"/>
          </p:cNvSpPr>
          <p:nvPr>
            <p:ph idx="1"/>
          </p:nvPr>
        </p:nvSpPr>
        <p:spPr/>
        <p:txBody>
          <a:bodyPr/>
          <a:lstStyle/>
          <a:p>
            <a:pPr algn="just"/>
            <a:r>
              <a:rPr lang="en-US" dirty="0"/>
              <a:t>This DC 3-6 V Mini Micro Submersible Water Pump is a low cost, small size Submersible Pump Motor which can be operated from a 2.5 ~ 6V power supply.</a:t>
            </a:r>
          </a:p>
          <a:p>
            <a:pPr algn="just"/>
            <a:r>
              <a:rPr lang="en-US" dirty="0"/>
              <a:t> It can take up to 120 liters per hour with a very low current consumption of 220mA. Just connect tube pipe to the motor outlet, submerge it in water and power it.</a:t>
            </a:r>
            <a:endParaRPr lang="en-IN" dirty="0"/>
          </a:p>
        </p:txBody>
      </p:sp>
      <p:pic>
        <p:nvPicPr>
          <p:cNvPr id="1028" name="Picture 4" descr="DC Pu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897" y="4509121"/>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002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SPECIFICATIONS</a:t>
            </a:r>
            <a:endParaRPr lang="en-IN" dirty="0"/>
          </a:p>
        </p:txBody>
      </p:sp>
      <p:sp>
        <p:nvSpPr>
          <p:cNvPr id="3" name="Content Placeholder 2"/>
          <p:cNvSpPr>
            <a:spLocks noGrp="1"/>
          </p:cNvSpPr>
          <p:nvPr>
            <p:ph idx="1"/>
          </p:nvPr>
        </p:nvSpPr>
        <p:spPr/>
        <p:txBody>
          <a:bodyPr/>
          <a:lstStyle/>
          <a:p>
            <a:r>
              <a:rPr lang="en-US" dirty="0"/>
              <a:t>Operating Voltage(VDC) : 2.5 to 6 V</a:t>
            </a:r>
          </a:p>
          <a:p>
            <a:r>
              <a:rPr lang="en-US" dirty="0"/>
              <a:t>Operating Current (mA) : 130 to 220 mA</a:t>
            </a:r>
          </a:p>
          <a:p>
            <a:r>
              <a:rPr lang="en-US" dirty="0"/>
              <a:t>Flow Rate (L/H) : 80 to 120 Lit./h</a:t>
            </a:r>
          </a:p>
          <a:p>
            <a:r>
              <a:rPr lang="en-US" dirty="0"/>
              <a:t>Maximum Lift (mm) : 40 to 110 mm</a:t>
            </a:r>
          </a:p>
          <a:p>
            <a:r>
              <a:rPr lang="en-US" dirty="0"/>
              <a:t>Continuous Working Life (hours) : 500</a:t>
            </a:r>
          </a:p>
          <a:p>
            <a:r>
              <a:rPr lang="en-US" dirty="0"/>
              <a:t>Driving Mode : DC, Magnetic Driving</a:t>
            </a:r>
          </a:p>
          <a:p>
            <a:r>
              <a:rPr lang="en-US" dirty="0"/>
              <a:t>Material : Plastic</a:t>
            </a:r>
          </a:p>
          <a:p>
            <a:r>
              <a:rPr lang="en-US" dirty="0"/>
              <a:t>Outlet Outside / Inside Diameter (mm) : 7.5 mm / 5 mm</a:t>
            </a:r>
          </a:p>
          <a:p>
            <a:endParaRPr lang="en-IN" dirty="0"/>
          </a:p>
        </p:txBody>
      </p:sp>
    </p:spTree>
    <p:extLst>
      <p:ext uri="{BB962C8B-B14F-4D97-AF65-F5344CB8AC3E}">
        <p14:creationId xmlns:p14="http://schemas.microsoft.com/office/powerpoint/2010/main" val="3041429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88C3A-3509-F735-DAAA-A520363154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7B02D3-835B-003C-1158-49419A91CA8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70799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E7E4-63FF-3292-9A4F-6DE05BAE31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F2C8D0-02C4-1E45-F277-84948173A59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592820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19</TotalTime>
  <Words>1582</Words>
  <Application>Microsoft Office PowerPoint</Application>
  <PresentationFormat>Widescreen</PresentationFormat>
  <Paragraphs>94</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Trebuchet MS</vt:lpstr>
      <vt:lpstr>Wingdings 2</vt:lpstr>
      <vt:lpstr>Wingdings 3</vt:lpstr>
      <vt:lpstr>Facet</vt:lpstr>
      <vt:lpstr>AUTOMATIC WATER LEVEL INDICATOR AND CONTROLLER USING ARDUINO</vt:lpstr>
      <vt:lpstr>Abstract</vt:lpstr>
      <vt:lpstr>INTRODUCTION</vt:lpstr>
      <vt:lpstr>EXISTING METHODS </vt:lpstr>
      <vt:lpstr>PROPOSED METHOD </vt:lpstr>
      <vt:lpstr>BLOCK DIAGRAM</vt:lpstr>
      <vt:lpstr>HARDWARE REQUIREMENTS</vt:lpstr>
      <vt:lpstr>SOFTWARE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DC WATER MOTOR</vt:lpstr>
      <vt:lpstr>SPECIFICATIONS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gct eee</dc:creator>
  <cp:lastModifiedBy>gct eee</cp:lastModifiedBy>
  <cp:revision>10</cp:revision>
  <dcterms:created xsi:type="dcterms:W3CDTF">2024-11-25T11:56:07Z</dcterms:created>
  <dcterms:modified xsi:type="dcterms:W3CDTF">2024-11-25T12:15:55Z</dcterms:modified>
</cp:coreProperties>
</file>